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4754880" cy="502920"/>
          </a:xfrm>
          <a:prstGeom prst="rect">
            <a:avLst/>
          </a:prstGeom>
          <a:noFill/>
        </p:spPr>
        <p:txBody>
          <a:bodyPr wrap="square" lIns="54864" rIns="54864" tIns="54864" bIns="54864">
            <a:spAutoFit/>
          </a:bodyPr>
          <a:lstStyle/>
          <a:p>
            <a:pPr>
              <a:spcAft>
                <a:spcPts val="500"/>
              </a:spcAft>
              <a:defRPr sz="3000" b="1">
                <a:solidFill>
                  <a:srgbClr val="5B2C1F"/>
                </a:solidFill>
                <a:latin typeface="Aptos"/>
              </a:defRPr>
            </a:pPr>
            <a:r>
              <a:t>90s CHOCOLATE</a:t>
            </a:r>
          </a:p>
        </p:txBody>
      </p:sp>
      <p:sp>
        <p:nvSpPr>
          <p:cNvPr id="4" name="TextBox 3"/>
          <p:cNvSpPr txBox="1"/>
          <p:nvPr/>
        </p:nvSpPr>
        <p:spPr>
          <a:xfrm>
            <a:off x="685800" y="1417320"/>
            <a:ext cx="4572000" cy="457200"/>
          </a:xfrm>
          <a:prstGeom prst="rect">
            <a:avLst/>
          </a:prstGeom>
          <a:noFill/>
        </p:spPr>
        <p:txBody>
          <a:bodyPr wrap="square" lIns="54864" rIns="54864" tIns="54864" bIns="54864">
            <a:spAutoFit/>
          </a:bodyPr>
          <a:lstStyle/>
          <a:p>
            <a:pPr>
              <a:spcAft>
                <a:spcPts val="500"/>
              </a:spcAft>
              <a:defRPr sz="2000" b="1">
                <a:solidFill>
                  <a:srgbClr val="7A5A4D"/>
                </a:solidFill>
                <a:latin typeface="Aptos"/>
              </a:defRPr>
            </a:pPr>
            <a:r>
              <a:t>AI MARKETING CAMPAIGN</a:t>
            </a:r>
          </a:p>
        </p:txBody>
      </p:sp>
      <p:sp>
        <p:nvSpPr>
          <p:cNvPr id="5" name="TextBox 4"/>
          <p:cNvSpPr txBox="1"/>
          <p:nvPr/>
        </p:nvSpPr>
        <p:spPr>
          <a:xfrm>
            <a:off x="685800" y="1965960"/>
            <a:ext cx="4846320" cy="82296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Brand Identity • Social Media</a:t>
            </a:r>
          </a:p>
          <a:p>
            <a:pPr>
              <a:spcAft>
                <a:spcPts val="500"/>
              </a:spcAft>
              <a:defRPr sz="1600" b="0">
                <a:solidFill>
                  <a:srgbClr val="292321"/>
                </a:solidFill>
                <a:latin typeface="Aptos"/>
              </a:defRPr>
            </a:pPr>
            <a:r>
              <a:t>Advertisement • Content Plan</a:t>
            </a:r>
          </a:p>
        </p:txBody>
      </p:sp>
      <p:sp>
        <p:nvSpPr>
          <p:cNvPr id="6" name="TextBox 5"/>
          <p:cNvSpPr txBox="1"/>
          <p:nvPr/>
        </p:nvSpPr>
        <p:spPr>
          <a:xfrm>
            <a:off x="685800" y="3246120"/>
            <a:ext cx="4663440" cy="54864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Taste the Good Old Days!</a:t>
            </a:r>
          </a:p>
        </p:txBody>
      </p:sp>
      <p:sp>
        <p:nvSpPr>
          <p:cNvPr id="7" name="TextBox 6"/>
          <p:cNvSpPr txBox="1"/>
          <p:nvPr/>
        </p:nvSpPr>
        <p:spPr>
          <a:xfrm>
            <a:off x="685800" y="4069080"/>
            <a:ext cx="4572000" cy="82296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A nostalgic chocolate campaign for college students and young adults.</a:t>
            </a:r>
          </a:p>
        </p:txBody>
      </p:sp>
      <p:pic>
        <p:nvPicPr>
          <p:cNvPr id="8" name="Picture 7" descr="a_clean_centered_graphic_logo_branding_illustrat.png"/>
          <p:cNvPicPr>
            <a:picLocks noChangeAspect="1"/>
          </p:cNvPicPr>
          <p:nvPr/>
        </p:nvPicPr>
        <p:blipFill>
          <a:blip r:embed="rId2"/>
          <a:stretch>
            <a:fillRect/>
          </a:stretch>
        </p:blipFill>
        <p:spPr>
          <a:xfrm>
            <a:off x="5715000" y="594360"/>
            <a:ext cx="5669280" cy="5669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01 | BRAND IDENTITY</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Building a memorable chocolate brand</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2</a:t>
            </a:r>
          </a:p>
        </p:txBody>
      </p:sp>
      <p:sp>
        <p:nvSpPr>
          <p:cNvPr id="6" name="Rounded Rectangle 5"/>
          <p:cNvSpPr/>
          <p:nvPr/>
        </p:nvSpPr>
        <p:spPr>
          <a:xfrm>
            <a:off x="594360" y="1417320"/>
            <a:ext cx="521208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466344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Brand Name</a:t>
            </a:r>
          </a:p>
        </p:txBody>
      </p:sp>
      <p:sp>
        <p:nvSpPr>
          <p:cNvPr id="8" name="TextBox 7"/>
          <p:cNvSpPr txBox="1"/>
          <p:nvPr/>
        </p:nvSpPr>
        <p:spPr>
          <a:xfrm>
            <a:off x="868680" y="2148840"/>
            <a:ext cx="4663440" cy="54864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90s Chocolate</a:t>
            </a:r>
          </a:p>
        </p:txBody>
      </p:sp>
      <p:sp>
        <p:nvSpPr>
          <p:cNvPr id="9" name="TextBox 8"/>
          <p:cNvSpPr txBox="1"/>
          <p:nvPr/>
        </p:nvSpPr>
        <p:spPr>
          <a:xfrm>
            <a:off x="868680" y="2834640"/>
            <a:ext cx="4663440" cy="36576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Slogan</a:t>
            </a:r>
          </a:p>
        </p:txBody>
      </p:sp>
      <p:sp>
        <p:nvSpPr>
          <p:cNvPr id="10" name="TextBox 9"/>
          <p:cNvSpPr txBox="1"/>
          <p:nvPr/>
        </p:nvSpPr>
        <p:spPr>
          <a:xfrm>
            <a:off x="868680" y="3200400"/>
            <a:ext cx="4663440" cy="54864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Taste the Good Old Days!</a:t>
            </a:r>
          </a:p>
        </p:txBody>
      </p:sp>
      <p:sp>
        <p:nvSpPr>
          <p:cNvPr id="11" name="Rounded Rectangle 10"/>
          <p:cNvSpPr/>
          <p:nvPr/>
        </p:nvSpPr>
        <p:spPr>
          <a:xfrm>
            <a:off x="6172200" y="1417320"/>
            <a:ext cx="534924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37360"/>
            <a:ext cx="4663440" cy="36576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Target Audience</a:t>
            </a:r>
          </a:p>
        </p:txBody>
      </p:sp>
      <p:sp>
        <p:nvSpPr>
          <p:cNvPr id="13" name="TextBox 12"/>
          <p:cNvSpPr txBox="1"/>
          <p:nvPr/>
        </p:nvSpPr>
        <p:spPr>
          <a:xfrm>
            <a:off x="6446520" y="2148840"/>
            <a:ext cx="4572000" cy="1188720"/>
          </a:xfrm>
          <a:prstGeom prst="rect">
            <a:avLst/>
          </a:prstGeom>
          <a:noFill/>
        </p:spPr>
        <p:txBody>
          <a:bodyPr wrap="square" lIns="73152" rIns="54864" tIns="36576" bIns="36576">
            <a:spAutoFit/>
          </a:bodyPr>
          <a:lstStyle/>
          <a:p>
            <a:pPr>
              <a:spcAft>
                <a:spcPts val="800"/>
              </a:spcAft>
              <a:defRPr sz="1600">
                <a:solidFill>
                  <a:srgbClr val="292321"/>
                </a:solidFill>
                <a:latin typeface="Aptos"/>
              </a:defRPr>
            </a:pPr>
            <a:r>
              <a:t>•  College students</a:t>
            </a:r>
          </a:p>
          <a:p>
            <a:pPr>
              <a:spcAft>
                <a:spcPts val="800"/>
              </a:spcAft>
              <a:defRPr sz="1600">
                <a:solidFill>
                  <a:srgbClr val="292321"/>
                </a:solidFill>
                <a:latin typeface="Aptos"/>
              </a:defRPr>
            </a:pPr>
            <a:r>
              <a:t>•  Young adults</a:t>
            </a:r>
          </a:p>
          <a:p>
            <a:pPr>
              <a:spcAft>
                <a:spcPts val="800"/>
              </a:spcAft>
              <a:defRPr sz="1600">
                <a:solidFill>
                  <a:srgbClr val="292321"/>
                </a:solidFill>
                <a:latin typeface="Aptos"/>
              </a:defRPr>
            </a:pPr>
            <a:r>
              <a:t>•  Chocolate lovers</a:t>
            </a:r>
          </a:p>
        </p:txBody>
      </p:sp>
      <p:sp>
        <p:nvSpPr>
          <p:cNvPr id="14" name="TextBox 13"/>
          <p:cNvSpPr txBox="1"/>
          <p:nvPr/>
        </p:nvSpPr>
        <p:spPr>
          <a:xfrm>
            <a:off x="6446520" y="3657600"/>
            <a:ext cx="4663440" cy="36576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Brand Personality</a:t>
            </a:r>
          </a:p>
        </p:txBody>
      </p:sp>
      <p:sp>
        <p:nvSpPr>
          <p:cNvPr id="15" name="TextBox 14"/>
          <p:cNvSpPr txBox="1"/>
          <p:nvPr/>
        </p:nvSpPr>
        <p:spPr>
          <a:xfrm>
            <a:off x="6446520" y="4023360"/>
            <a:ext cx="4572000" cy="1371600"/>
          </a:xfrm>
          <a:prstGeom prst="rect">
            <a:avLst/>
          </a:prstGeom>
          <a:noFill/>
        </p:spPr>
        <p:txBody>
          <a:bodyPr wrap="square" lIns="73152" rIns="54864" tIns="36576" bIns="36576">
            <a:spAutoFit/>
          </a:bodyPr>
          <a:lstStyle/>
          <a:p>
            <a:pPr>
              <a:spcAft>
                <a:spcPts val="800"/>
              </a:spcAft>
              <a:defRPr sz="1600">
                <a:solidFill>
                  <a:srgbClr val="292321"/>
                </a:solidFill>
                <a:latin typeface="Aptos"/>
              </a:defRPr>
            </a:pPr>
            <a:r>
              <a:t>•  Nostalgic</a:t>
            </a:r>
          </a:p>
          <a:p>
            <a:pPr>
              <a:spcAft>
                <a:spcPts val="800"/>
              </a:spcAft>
              <a:defRPr sz="1600">
                <a:solidFill>
                  <a:srgbClr val="292321"/>
                </a:solidFill>
                <a:latin typeface="Aptos"/>
              </a:defRPr>
            </a:pPr>
            <a:r>
              <a:t>•  Friendly</a:t>
            </a:r>
          </a:p>
          <a:p>
            <a:pPr>
              <a:spcAft>
                <a:spcPts val="800"/>
              </a:spcAft>
              <a:defRPr sz="1600">
                <a:solidFill>
                  <a:srgbClr val="292321"/>
                </a:solidFill>
                <a:latin typeface="Aptos"/>
              </a:defRPr>
            </a:pPr>
            <a:r>
              <a:t>•  Fun and shareable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02 | AI BRAND IDENTITY KIT</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Three matching designs for one consistent brand</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3</a:t>
            </a:r>
          </a:p>
        </p:txBody>
      </p:sp>
      <p:sp>
        <p:nvSpPr>
          <p:cNvPr id="6" name="Rounded Rectangle 5"/>
          <p:cNvSpPr/>
          <p:nvPr/>
        </p:nvSpPr>
        <p:spPr>
          <a:xfrm>
            <a:off x="502920" y="1417320"/>
            <a:ext cx="3429000" cy="452628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_clean_centered_graphic_logo_branding_illustrat.png"/>
          <p:cNvPicPr>
            <a:picLocks noChangeAspect="1"/>
          </p:cNvPicPr>
          <p:nvPr/>
        </p:nvPicPr>
        <p:blipFill>
          <a:blip r:embed="rId2"/>
          <a:stretch>
            <a:fillRect/>
          </a:stretch>
        </p:blipFill>
        <p:spPr>
          <a:xfrm>
            <a:off x="818388" y="1572768"/>
            <a:ext cx="2788920" cy="2788920"/>
          </a:xfrm>
          <a:prstGeom prst="rect">
            <a:avLst/>
          </a:prstGeom>
        </p:spPr>
      </p:pic>
      <p:sp>
        <p:nvSpPr>
          <p:cNvPr id="8" name="TextBox 7"/>
          <p:cNvSpPr txBox="1"/>
          <p:nvPr/>
        </p:nvSpPr>
        <p:spPr>
          <a:xfrm>
            <a:off x="667512" y="4480560"/>
            <a:ext cx="3108960" cy="411480"/>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1. Brand Logo</a:t>
            </a:r>
          </a:p>
        </p:txBody>
      </p:sp>
      <p:sp>
        <p:nvSpPr>
          <p:cNvPr id="9" name="TextBox 8"/>
          <p:cNvSpPr txBox="1"/>
          <p:nvPr/>
        </p:nvSpPr>
        <p:spPr>
          <a:xfrm>
            <a:off x="685800" y="4937760"/>
            <a:ext cx="3063240" cy="777240"/>
          </a:xfrm>
          <a:prstGeom prst="rect">
            <a:avLst/>
          </a:prstGeom>
          <a:noFill/>
        </p:spPr>
        <p:txBody>
          <a:bodyPr wrap="square" lIns="54864" rIns="54864" tIns="54864" bIns="54864">
            <a:spAutoFit/>
          </a:bodyPr>
          <a:lstStyle/>
          <a:p>
            <a:pPr algn="ctr">
              <a:spcAft>
                <a:spcPts val="500"/>
              </a:spcAft>
              <a:defRPr sz="1400" b="0">
                <a:solidFill>
                  <a:srgbClr val="292321"/>
                </a:solidFill>
                <a:latin typeface="Aptos"/>
              </a:defRPr>
            </a:pPr>
            <a:r>
              <a:t>Bold retro “90s” typography</a:t>
            </a:r>
          </a:p>
          <a:p>
            <a:pPr algn="ctr">
              <a:spcAft>
                <a:spcPts val="500"/>
              </a:spcAft>
              <a:defRPr sz="1400" b="0">
                <a:solidFill>
                  <a:srgbClr val="292321"/>
                </a:solidFill>
                <a:latin typeface="Aptos"/>
              </a:defRPr>
            </a:pPr>
            <a:r>
              <a:t>Tagline: Taste the Good Old Days!</a:t>
            </a:r>
          </a:p>
        </p:txBody>
      </p:sp>
      <p:sp>
        <p:nvSpPr>
          <p:cNvPr id="10" name="Rounded Rectangle 9"/>
          <p:cNvSpPr/>
          <p:nvPr/>
        </p:nvSpPr>
        <p:spPr>
          <a:xfrm>
            <a:off x="4160520" y="1417320"/>
            <a:ext cx="3429000" cy="452628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_clean_commercial_product_photography_scene_on_a.png"/>
          <p:cNvPicPr>
            <a:picLocks noChangeAspect="1"/>
          </p:cNvPicPr>
          <p:nvPr/>
        </p:nvPicPr>
        <p:blipFill>
          <a:blip r:embed="rId3"/>
          <a:stretch>
            <a:fillRect/>
          </a:stretch>
        </p:blipFill>
        <p:spPr>
          <a:xfrm>
            <a:off x="4270248" y="1900427"/>
            <a:ext cx="3200400" cy="2133600"/>
          </a:xfrm>
          <a:prstGeom prst="rect">
            <a:avLst/>
          </a:prstGeom>
        </p:spPr>
      </p:pic>
      <p:sp>
        <p:nvSpPr>
          <p:cNvPr id="12" name="TextBox 11"/>
          <p:cNvSpPr txBox="1"/>
          <p:nvPr/>
        </p:nvSpPr>
        <p:spPr>
          <a:xfrm>
            <a:off x="4325112" y="4480560"/>
            <a:ext cx="3108960" cy="411480"/>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2. Chocolate Packaging</a:t>
            </a:r>
          </a:p>
        </p:txBody>
      </p:sp>
      <p:sp>
        <p:nvSpPr>
          <p:cNvPr id="13" name="TextBox 12"/>
          <p:cNvSpPr txBox="1"/>
          <p:nvPr/>
        </p:nvSpPr>
        <p:spPr>
          <a:xfrm>
            <a:off x="4343400" y="4937760"/>
            <a:ext cx="3063240" cy="777240"/>
          </a:xfrm>
          <a:prstGeom prst="rect">
            <a:avLst/>
          </a:prstGeom>
          <a:noFill/>
        </p:spPr>
        <p:txBody>
          <a:bodyPr wrap="square" lIns="54864" rIns="54864" tIns="54864" bIns="54864">
            <a:spAutoFit/>
          </a:bodyPr>
          <a:lstStyle/>
          <a:p>
            <a:pPr algn="ctr">
              <a:spcAft>
                <a:spcPts val="500"/>
              </a:spcAft>
              <a:defRPr sz="1400" b="0">
                <a:solidFill>
                  <a:srgbClr val="292321"/>
                </a:solidFill>
                <a:latin typeface="Aptos"/>
              </a:defRPr>
            </a:pPr>
            <a:r>
              <a:t>Brown, cream and gold wrapper</a:t>
            </a:r>
          </a:p>
          <a:p>
            <a:pPr algn="ctr">
              <a:spcAft>
                <a:spcPts val="500"/>
              </a:spcAft>
              <a:defRPr sz="1400" b="0">
                <a:solidFill>
                  <a:srgbClr val="292321"/>
                </a:solidFill>
                <a:latin typeface="Aptos"/>
              </a:defRPr>
            </a:pPr>
            <a:r>
              <a:t>Realistic chocolate product mockup</a:t>
            </a:r>
          </a:p>
        </p:txBody>
      </p:sp>
      <p:sp>
        <p:nvSpPr>
          <p:cNvPr id="14" name="Rounded Rectangle 13"/>
          <p:cNvSpPr/>
          <p:nvPr/>
        </p:nvSpPr>
        <p:spPr>
          <a:xfrm>
            <a:off x="7818120" y="1417320"/>
            <a:ext cx="3429000" cy="452628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wide_outdoor_urban_scene_with_a_large_billboard_do.png"/>
          <p:cNvPicPr>
            <a:picLocks noChangeAspect="1"/>
          </p:cNvPicPr>
          <p:nvPr/>
        </p:nvPicPr>
        <p:blipFill>
          <a:blip r:embed="rId4"/>
          <a:stretch>
            <a:fillRect/>
          </a:stretch>
        </p:blipFill>
        <p:spPr>
          <a:xfrm>
            <a:off x="7927848" y="1900427"/>
            <a:ext cx="3200400" cy="2133600"/>
          </a:xfrm>
          <a:prstGeom prst="rect">
            <a:avLst/>
          </a:prstGeom>
        </p:spPr>
      </p:pic>
      <p:sp>
        <p:nvSpPr>
          <p:cNvPr id="16" name="TextBox 15"/>
          <p:cNvSpPr txBox="1"/>
          <p:nvPr/>
        </p:nvSpPr>
        <p:spPr>
          <a:xfrm>
            <a:off x="7982712" y="4480560"/>
            <a:ext cx="3108960" cy="411480"/>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3. Billboard Advertisement</a:t>
            </a:r>
          </a:p>
        </p:txBody>
      </p:sp>
      <p:sp>
        <p:nvSpPr>
          <p:cNvPr id="17" name="TextBox 16"/>
          <p:cNvSpPr txBox="1"/>
          <p:nvPr/>
        </p:nvSpPr>
        <p:spPr>
          <a:xfrm>
            <a:off x="8001000" y="4937760"/>
            <a:ext cx="3063240" cy="777240"/>
          </a:xfrm>
          <a:prstGeom prst="rect">
            <a:avLst/>
          </a:prstGeom>
          <a:noFill/>
        </p:spPr>
        <p:txBody>
          <a:bodyPr wrap="square" lIns="54864" rIns="54864" tIns="54864" bIns="54864">
            <a:spAutoFit/>
          </a:bodyPr>
          <a:lstStyle/>
          <a:p>
            <a:pPr algn="ctr">
              <a:spcAft>
                <a:spcPts val="500"/>
              </a:spcAft>
              <a:defRPr sz="1400" b="0">
                <a:solidFill>
                  <a:srgbClr val="292321"/>
                </a:solidFill>
                <a:latin typeface="Aptos"/>
              </a:defRPr>
            </a:pPr>
            <a:r>
              <a:t>Headline: RELIVE THE 90s</a:t>
            </a:r>
          </a:p>
          <a:p>
            <a:pPr algn="ctr">
              <a:spcAft>
                <a:spcPts val="500"/>
              </a:spcAft>
              <a:defRPr sz="1400" b="0">
                <a:solidFill>
                  <a:srgbClr val="292321"/>
                </a:solidFill>
                <a:latin typeface="Aptos"/>
              </a:defRPr>
            </a:pPr>
            <a:r>
              <a:t>WITH EVERY BITE!</a:t>
            </a:r>
          </a:p>
        </p:txBody>
      </p:sp>
      <p:sp>
        <p:nvSpPr>
          <p:cNvPr id="18" name="TextBox 17"/>
          <p:cNvSpPr txBox="1"/>
          <p:nvPr/>
        </p:nvSpPr>
        <p:spPr>
          <a:xfrm>
            <a:off x="640080" y="6080760"/>
            <a:ext cx="10881360" cy="320040"/>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Brand colours: Chocolate Brown • Cream • Golden Yellow • White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03 | VISUAL IDENTITY</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Colour palette and design direction</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4</a:t>
            </a:r>
          </a:p>
        </p:txBody>
      </p:sp>
      <p:sp>
        <p:nvSpPr>
          <p:cNvPr id="6" name="Rounded Rectangle 5"/>
          <p:cNvSpPr/>
          <p:nvPr/>
        </p:nvSpPr>
        <p:spPr>
          <a:xfrm>
            <a:off x="640080" y="1554480"/>
            <a:ext cx="2423160" cy="1325880"/>
          </a:xfrm>
          <a:prstGeom prst="roundRect">
            <a:avLst/>
          </a:prstGeom>
          <a:solidFill>
            <a:srgbClr val="5B2C1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999232"/>
            <a:ext cx="2423160" cy="384048"/>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Chocolate Brown</a:t>
            </a:r>
          </a:p>
        </p:txBody>
      </p:sp>
      <p:sp>
        <p:nvSpPr>
          <p:cNvPr id="8" name="TextBox 7"/>
          <p:cNvSpPr txBox="1"/>
          <p:nvPr/>
        </p:nvSpPr>
        <p:spPr>
          <a:xfrm>
            <a:off x="640080" y="3401568"/>
            <a:ext cx="2423160" cy="292608"/>
          </a:xfrm>
          <a:prstGeom prst="rect">
            <a:avLst/>
          </a:prstGeom>
          <a:noFill/>
        </p:spPr>
        <p:txBody>
          <a:bodyPr wrap="square" lIns="54864" rIns="54864" tIns="54864" bIns="54864">
            <a:spAutoFit/>
          </a:bodyPr>
          <a:lstStyle/>
          <a:p>
            <a:pPr algn="ctr">
              <a:spcAft>
                <a:spcPts val="500"/>
              </a:spcAft>
              <a:defRPr sz="1200" b="0">
                <a:solidFill>
                  <a:srgbClr val="7A5A4D"/>
                </a:solidFill>
                <a:latin typeface="Aptos"/>
              </a:defRPr>
            </a:pPr>
            <a:r>
              <a:t>#5B2C1F</a:t>
            </a:r>
          </a:p>
        </p:txBody>
      </p:sp>
      <p:sp>
        <p:nvSpPr>
          <p:cNvPr id="9" name="Rounded Rectangle 8"/>
          <p:cNvSpPr/>
          <p:nvPr/>
        </p:nvSpPr>
        <p:spPr>
          <a:xfrm>
            <a:off x="3520439" y="1554480"/>
            <a:ext cx="2423160" cy="1325880"/>
          </a:xfrm>
          <a:prstGeom prst="roundRect">
            <a:avLst/>
          </a:prstGeom>
          <a:solidFill>
            <a:srgbClr val="FFF8EC"/>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39" y="2999232"/>
            <a:ext cx="2423160" cy="384048"/>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Cream</a:t>
            </a:r>
          </a:p>
        </p:txBody>
      </p:sp>
      <p:sp>
        <p:nvSpPr>
          <p:cNvPr id="11" name="TextBox 10"/>
          <p:cNvSpPr txBox="1"/>
          <p:nvPr/>
        </p:nvSpPr>
        <p:spPr>
          <a:xfrm>
            <a:off x="3520439" y="3401568"/>
            <a:ext cx="2423160" cy="292608"/>
          </a:xfrm>
          <a:prstGeom prst="rect">
            <a:avLst/>
          </a:prstGeom>
          <a:noFill/>
        </p:spPr>
        <p:txBody>
          <a:bodyPr wrap="square" lIns="54864" rIns="54864" tIns="54864" bIns="54864">
            <a:spAutoFit/>
          </a:bodyPr>
          <a:lstStyle/>
          <a:p>
            <a:pPr algn="ctr">
              <a:spcAft>
                <a:spcPts val="500"/>
              </a:spcAft>
              <a:defRPr sz="1200" b="0">
                <a:solidFill>
                  <a:srgbClr val="7A5A4D"/>
                </a:solidFill>
                <a:latin typeface="Aptos"/>
              </a:defRPr>
            </a:pPr>
            <a:r>
              <a:t>#FFF8EC</a:t>
            </a:r>
          </a:p>
        </p:txBody>
      </p:sp>
      <p:sp>
        <p:nvSpPr>
          <p:cNvPr id="12" name="Rounded Rectangle 11"/>
          <p:cNvSpPr/>
          <p:nvPr/>
        </p:nvSpPr>
        <p:spPr>
          <a:xfrm>
            <a:off x="6400800" y="1554480"/>
            <a:ext cx="2423160" cy="1325880"/>
          </a:xfrm>
          <a:prstGeom prst="roundRect">
            <a:avLst/>
          </a:prstGeom>
          <a:solidFill>
            <a:srgbClr val="D6A72C"/>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999232"/>
            <a:ext cx="2423160" cy="384048"/>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Golden Yellow</a:t>
            </a:r>
          </a:p>
        </p:txBody>
      </p:sp>
      <p:sp>
        <p:nvSpPr>
          <p:cNvPr id="14" name="TextBox 13"/>
          <p:cNvSpPr txBox="1"/>
          <p:nvPr/>
        </p:nvSpPr>
        <p:spPr>
          <a:xfrm>
            <a:off x="6400800" y="3401568"/>
            <a:ext cx="2423160" cy="292608"/>
          </a:xfrm>
          <a:prstGeom prst="rect">
            <a:avLst/>
          </a:prstGeom>
          <a:noFill/>
        </p:spPr>
        <p:txBody>
          <a:bodyPr wrap="square" lIns="54864" rIns="54864" tIns="54864" bIns="54864">
            <a:spAutoFit/>
          </a:bodyPr>
          <a:lstStyle/>
          <a:p>
            <a:pPr algn="ctr">
              <a:spcAft>
                <a:spcPts val="500"/>
              </a:spcAft>
              <a:defRPr sz="1200" b="0">
                <a:solidFill>
                  <a:srgbClr val="7A5A4D"/>
                </a:solidFill>
                <a:latin typeface="Aptos"/>
              </a:defRPr>
            </a:pPr>
            <a:r>
              <a:t>#D6A72C</a:t>
            </a:r>
          </a:p>
        </p:txBody>
      </p:sp>
      <p:sp>
        <p:nvSpPr>
          <p:cNvPr id="15" name="Rounded Rectangle 14"/>
          <p:cNvSpPr/>
          <p:nvPr/>
        </p:nvSpPr>
        <p:spPr>
          <a:xfrm>
            <a:off x="9281159" y="1554480"/>
            <a:ext cx="2423160" cy="132588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59" y="2999232"/>
            <a:ext cx="2423160" cy="384048"/>
          </a:xfrm>
          <a:prstGeom prst="rect">
            <a:avLst/>
          </a:prstGeom>
          <a:noFill/>
        </p:spPr>
        <p:txBody>
          <a:bodyPr wrap="square" lIns="54864" rIns="54864" tIns="54864" bIns="54864">
            <a:spAutoFit/>
          </a:bodyPr>
          <a:lstStyle/>
          <a:p>
            <a:pPr algn="ctr">
              <a:spcAft>
                <a:spcPts val="500"/>
              </a:spcAft>
              <a:defRPr sz="1600" b="1">
                <a:solidFill>
                  <a:srgbClr val="5B2C1F"/>
                </a:solidFill>
                <a:latin typeface="Aptos"/>
              </a:defRPr>
            </a:pPr>
            <a:r>
              <a:t>White</a:t>
            </a:r>
          </a:p>
        </p:txBody>
      </p:sp>
      <p:sp>
        <p:nvSpPr>
          <p:cNvPr id="17" name="TextBox 16"/>
          <p:cNvSpPr txBox="1"/>
          <p:nvPr/>
        </p:nvSpPr>
        <p:spPr>
          <a:xfrm>
            <a:off x="9281159" y="3401568"/>
            <a:ext cx="2423160" cy="292608"/>
          </a:xfrm>
          <a:prstGeom prst="rect">
            <a:avLst/>
          </a:prstGeom>
          <a:noFill/>
        </p:spPr>
        <p:txBody>
          <a:bodyPr wrap="square" lIns="54864" rIns="54864" tIns="54864" bIns="54864">
            <a:spAutoFit/>
          </a:bodyPr>
          <a:lstStyle/>
          <a:p>
            <a:pPr algn="ctr">
              <a:spcAft>
                <a:spcPts val="500"/>
              </a:spcAft>
              <a:defRPr sz="1200" b="0">
                <a:solidFill>
                  <a:srgbClr val="7A5A4D"/>
                </a:solidFill>
                <a:latin typeface="Aptos"/>
              </a:defRPr>
            </a:pPr>
            <a:r>
              <a:t>#FFFFFF</a:t>
            </a:r>
          </a:p>
        </p:txBody>
      </p:sp>
      <p:sp>
        <p:nvSpPr>
          <p:cNvPr id="18" name="Rounded Rectangle 17"/>
          <p:cNvSpPr/>
          <p:nvPr/>
        </p:nvSpPr>
        <p:spPr>
          <a:xfrm>
            <a:off x="731520" y="4160520"/>
            <a:ext cx="10744200" cy="132588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434840"/>
            <a:ext cx="10241280" cy="731520"/>
          </a:xfrm>
          <a:prstGeom prst="rect">
            <a:avLst/>
          </a:prstGeom>
          <a:noFill/>
        </p:spPr>
        <p:txBody>
          <a:bodyPr wrap="square" lIns="54864" rIns="54864" tIns="54864" bIns="54864">
            <a:spAutoFit/>
          </a:bodyPr>
          <a:lstStyle/>
          <a:p>
            <a:pPr algn="ctr">
              <a:spcAft>
                <a:spcPts val="500"/>
              </a:spcAft>
              <a:defRPr sz="1600" b="0">
                <a:solidFill>
                  <a:srgbClr val="292321"/>
                </a:solidFill>
                <a:latin typeface="Aptos"/>
              </a:defRPr>
            </a:pPr>
            <a:r>
              <a:t>Design idea: bold “90s” lettering, clean product photography, warm backgrounds, and readable 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04 | SOCIAL MEDIA CREATIVE 1</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Brand awareness</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5</a:t>
            </a:r>
          </a:p>
        </p:txBody>
      </p:sp>
      <p:sp>
        <p:nvSpPr>
          <p:cNvPr id="6" name="Rounded Rectangle 5"/>
          <p:cNvSpPr/>
          <p:nvPr/>
        </p:nvSpPr>
        <p:spPr>
          <a:xfrm>
            <a:off x="640080" y="1417320"/>
            <a:ext cx="640080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5852160" cy="822960"/>
          </a:xfrm>
          <a:prstGeom prst="rect">
            <a:avLst/>
          </a:prstGeom>
          <a:noFill/>
        </p:spPr>
        <p:txBody>
          <a:bodyPr wrap="square" lIns="54864" rIns="54864" tIns="54864" bIns="54864">
            <a:spAutoFit/>
          </a:bodyPr>
          <a:lstStyle/>
          <a:p>
            <a:pPr>
              <a:spcAft>
                <a:spcPts val="500"/>
              </a:spcAft>
              <a:defRPr sz="2400" b="1">
                <a:solidFill>
                  <a:srgbClr val="5B2C1F"/>
                </a:solidFill>
                <a:latin typeface="Aptos"/>
              </a:defRPr>
            </a:pPr>
            <a:r>
              <a:t>RELIVE THE 90s</a:t>
            </a:r>
          </a:p>
          <a:p>
            <a:pPr>
              <a:spcAft>
                <a:spcPts val="500"/>
              </a:spcAft>
              <a:defRPr sz="2400" b="1">
                <a:solidFill>
                  <a:srgbClr val="5B2C1F"/>
                </a:solidFill>
                <a:latin typeface="Aptos"/>
              </a:defRPr>
            </a:pPr>
            <a:r>
              <a:t>WITH EVERY BITE!</a:t>
            </a:r>
          </a:p>
        </p:txBody>
      </p:sp>
      <p:sp>
        <p:nvSpPr>
          <p:cNvPr id="8" name="TextBox 7"/>
          <p:cNvSpPr txBox="1"/>
          <p:nvPr/>
        </p:nvSpPr>
        <p:spPr>
          <a:xfrm>
            <a:off x="914400" y="2788920"/>
            <a:ext cx="5669280" cy="73152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Rediscover the joy of chocolate and make every moment sweeter.</a:t>
            </a:r>
          </a:p>
        </p:txBody>
      </p:sp>
      <p:sp>
        <p:nvSpPr>
          <p:cNvPr id="9" name="TextBox 8"/>
          <p:cNvSpPr txBox="1"/>
          <p:nvPr/>
        </p:nvSpPr>
        <p:spPr>
          <a:xfrm>
            <a:off x="914400" y="3657600"/>
            <a:ext cx="5669280" cy="64008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90s Chocolate — Taste the Good Old Days!</a:t>
            </a:r>
          </a:p>
        </p:txBody>
      </p:sp>
      <p:sp>
        <p:nvSpPr>
          <p:cNvPr id="10" name="TextBox 9"/>
          <p:cNvSpPr txBox="1"/>
          <p:nvPr/>
        </p:nvSpPr>
        <p:spPr>
          <a:xfrm>
            <a:off x="914400" y="4572000"/>
            <a:ext cx="5669280" cy="914400"/>
          </a:xfrm>
          <a:prstGeom prst="rect">
            <a:avLst/>
          </a:prstGeom>
          <a:noFill/>
        </p:spPr>
        <p:txBody>
          <a:bodyPr wrap="square" lIns="54864" rIns="54864" tIns="54864" bIns="54864">
            <a:spAutoFit/>
          </a:bodyPr>
          <a:lstStyle/>
          <a:p>
            <a:pPr>
              <a:spcAft>
                <a:spcPts val="500"/>
              </a:spcAft>
              <a:defRPr sz="1400" b="0">
                <a:solidFill>
                  <a:srgbClr val="7A5A4D"/>
                </a:solidFill>
                <a:latin typeface="Aptos"/>
              </a:defRPr>
            </a:pPr>
            <a:r>
              <a:t>Visual: Chocolate bar close-up; warm brown and cream background; brand name and slogan clearly visible.</a:t>
            </a:r>
          </a:p>
          <a:p>
            <a:pPr>
              <a:spcAft>
                <a:spcPts val="500"/>
              </a:spcAft>
              <a:defRPr sz="1400" b="0">
                <a:solidFill>
                  <a:srgbClr val="7A5A4D"/>
                </a:solidFill>
                <a:latin typeface="Aptos"/>
              </a:defRPr>
            </a:pPr>
          </a:p>
          <a:p>
            <a:pPr>
              <a:spcAft>
                <a:spcPts val="500"/>
              </a:spcAft>
              <a:defRPr sz="1400" b="0">
                <a:solidFill>
                  <a:srgbClr val="7A5A4D"/>
                </a:solidFill>
                <a:latin typeface="Aptos"/>
              </a:defRPr>
            </a:pPr>
            <a:r>
              <a:t>#90sChocolate  #ChocolateLovers  #SweetMemories</a:t>
            </a:r>
          </a:p>
        </p:txBody>
      </p:sp>
      <p:pic>
        <p:nvPicPr>
          <p:cNvPr id="11" name="Picture 10" descr="a_clean_commercial_product_photography_scene_on_a.png"/>
          <p:cNvPicPr>
            <a:picLocks noChangeAspect="1"/>
          </p:cNvPicPr>
          <p:nvPr/>
        </p:nvPicPr>
        <p:blipFill>
          <a:blip r:embed="rId2"/>
          <a:stretch>
            <a:fillRect/>
          </a:stretch>
        </p:blipFill>
        <p:spPr>
          <a:xfrm>
            <a:off x="7315200" y="2270760"/>
            <a:ext cx="4297680" cy="2865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05 | SOCIAL MEDIA CREATIVE 2</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Student engagement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6</a:t>
            </a:r>
          </a:p>
        </p:txBody>
      </p:sp>
      <p:sp>
        <p:nvSpPr>
          <p:cNvPr id="6" name="Rounded Rectangle 5"/>
          <p:cNvSpPr/>
          <p:nvPr/>
        </p:nvSpPr>
        <p:spPr>
          <a:xfrm>
            <a:off x="640080" y="1417320"/>
            <a:ext cx="594360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5303520" cy="822960"/>
          </a:xfrm>
          <a:prstGeom prst="rect">
            <a:avLst/>
          </a:prstGeom>
          <a:noFill/>
        </p:spPr>
        <p:txBody>
          <a:bodyPr wrap="square" lIns="54864" rIns="54864" tIns="54864" bIns="54864">
            <a:spAutoFit/>
          </a:bodyPr>
          <a:lstStyle/>
          <a:p>
            <a:pPr>
              <a:spcAft>
                <a:spcPts val="500"/>
              </a:spcAft>
              <a:defRPr sz="2400" b="1">
                <a:solidFill>
                  <a:srgbClr val="5B2C1F"/>
                </a:solidFill>
                <a:latin typeface="Aptos"/>
              </a:defRPr>
            </a:pPr>
            <a:r>
              <a:t>SMALL BITES.</a:t>
            </a:r>
          </a:p>
          <a:p>
            <a:pPr>
              <a:spcAft>
                <a:spcPts val="500"/>
              </a:spcAft>
              <a:defRPr sz="2400" b="1">
                <a:solidFill>
                  <a:srgbClr val="5B2C1F"/>
                </a:solidFill>
                <a:latin typeface="Aptos"/>
              </a:defRPr>
            </a:pPr>
            <a:r>
              <a:t>BIG HAPPINESS!</a:t>
            </a:r>
          </a:p>
        </p:txBody>
      </p:sp>
      <p:sp>
        <p:nvSpPr>
          <p:cNvPr id="8" name="TextBox 7"/>
          <p:cNvSpPr txBox="1"/>
          <p:nvPr/>
        </p:nvSpPr>
        <p:spPr>
          <a:xfrm>
            <a:off x="914400" y="2788920"/>
            <a:ext cx="5303520" cy="91440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Take a sweet break between classes with 90s Chocolate. Share the sweetness. Enjoy the moment!</a:t>
            </a:r>
          </a:p>
        </p:txBody>
      </p:sp>
      <p:sp>
        <p:nvSpPr>
          <p:cNvPr id="9" name="TextBox 8"/>
          <p:cNvSpPr txBox="1"/>
          <p:nvPr/>
        </p:nvSpPr>
        <p:spPr>
          <a:xfrm>
            <a:off x="914400" y="4114800"/>
            <a:ext cx="5212080" cy="1097280"/>
          </a:xfrm>
          <a:prstGeom prst="rect">
            <a:avLst/>
          </a:prstGeom>
          <a:noFill/>
        </p:spPr>
        <p:txBody>
          <a:bodyPr wrap="square" lIns="54864" rIns="54864" tIns="54864" bIns="54864">
            <a:spAutoFit/>
          </a:bodyPr>
          <a:lstStyle/>
          <a:p>
            <a:pPr>
              <a:spcAft>
                <a:spcPts val="500"/>
              </a:spcAft>
              <a:defRPr sz="1400" b="0">
                <a:solidFill>
                  <a:srgbClr val="7A5A4D"/>
                </a:solidFill>
                <a:latin typeface="Aptos"/>
              </a:defRPr>
            </a:pPr>
            <a:r>
              <a:t>Visual: Students on a campus break, chocolate packet in focus, friendly bright composition.</a:t>
            </a:r>
          </a:p>
          <a:p>
            <a:pPr>
              <a:spcAft>
                <a:spcPts val="500"/>
              </a:spcAft>
              <a:defRPr sz="1400" b="0">
                <a:solidFill>
                  <a:srgbClr val="7A5A4D"/>
                </a:solidFill>
                <a:latin typeface="Aptos"/>
              </a:defRPr>
            </a:pPr>
          </a:p>
          <a:p>
            <a:pPr>
              <a:spcAft>
                <a:spcPts val="500"/>
              </a:spcAft>
              <a:defRPr sz="1400" b="0">
                <a:solidFill>
                  <a:srgbClr val="7A5A4D"/>
                </a:solidFill>
                <a:latin typeface="Aptos"/>
              </a:defRPr>
            </a:pPr>
            <a:r>
              <a:t>#90sChocolate  #StudyBreak  #ChocolateTime</a:t>
            </a:r>
          </a:p>
        </p:txBody>
      </p:sp>
      <p:pic>
        <p:nvPicPr>
          <p:cNvPr id="10" name="Picture 9" descr="a_clean_centered_graphic_logo_branding_illustrat.png"/>
          <p:cNvPicPr>
            <a:picLocks noChangeAspect="1"/>
          </p:cNvPicPr>
          <p:nvPr/>
        </p:nvPicPr>
        <p:blipFill>
          <a:blip r:embed="rId2"/>
          <a:stretch>
            <a:fillRect/>
          </a:stretch>
        </p:blipFill>
        <p:spPr>
          <a:xfrm>
            <a:off x="7155180" y="1600200"/>
            <a:ext cx="4206240" cy="4206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06 | 30-SECOND ADVERTISEMENT</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Short-form commercial script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7</a:t>
            </a:r>
          </a:p>
        </p:txBody>
      </p:sp>
      <p:sp>
        <p:nvSpPr>
          <p:cNvPr id="6" name="Rounded Rectangle 5"/>
          <p:cNvSpPr/>
          <p:nvPr/>
        </p:nvSpPr>
        <p:spPr>
          <a:xfrm>
            <a:off x="640080" y="1417320"/>
            <a:ext cx="10927080" cy="80467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1188720" cy="50292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0–5 sec</a:t>
            </a:r>
          </a:p>
        </p:txBody>
      </p:sp>
      <p:sp>
        <p:nvSpPr>
          <p:cNvPr id="8" name="TextBox 7"/>
          <p:cNvSpPr txBox="1"/>
          <p:nvPr/>
        </p:nvSpPr>
        <p:spPr>
          <a:xfrm>
            <a:off x="2103120" y="1536192"/>
            <a:ext cx="2743200" cy="54864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College friends walking / smiling</a:t>
            </a:r>
          </a:p>
        </p:txBody>
      </p:sp>
      <p:sp>
        <p:nvSpPr>
          <p:cNvPr id="9" name="TextBox 8"/>
          <p:cNvSpPr txBox="1"/>
          <p:nvPr/>
        </p:nvSpPr>
        <p:spPr>
          <a:xfrm>
            <a:off x="4892040" y="1527048"/>
            <a:ext cx="6400800" cy="59436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“Remember the simple joys?”</a:t>
            </a:r>
          </a:p>
        </p:txBody>
      </p:sp>
      <p:sp>
        <p:nvSpPr>
          <p:cNvPr id="10" name="Rounded Rectangle 9"/>
          <p:cNvSpPr/>
          <p:nvPr/>
        </p:nvSpPr>
        <p:spPr>
          <a:xfrm>
            <a:off x="640080" y="2313432"/>
            <a:ext cx="10927080" cy="804672"/>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32304"/>
            <a:ext cx="1188720" cy="50292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5–12 sec</a:t>
            </a:r>
          </a:p>
        </p:txBody>
      </p:sp>
      <p:sp>
        <p:nvSpPr>
          <p:cNvPr id="12" name="TextBox 11"/>
          <p:cNvSpPr txBox="1"/>
          <p:nvPr/>
        </p:nvSpPr>
        <p:spPr>
          <a:xfrm>
            <a:off x="2103120" y="2432304"/>
            <a:ext cx="2743200" cy="54864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Chocolate packet reveal</a:t>
            </a:r>
          </a:p>
        </p:txBody>
      </p:sp>
      <p:sp>
        <p:nvSpPr>
          <p:cNvPr id="13" name="TextBox 12"/>
          <p:cNvSpPr txBox="1"/>
          <p:nvPr/>
        </p:nvSpPr>
        <p:spPr>
          <a:xfrm>
            <a:off x="4892040" y="2423160"/>
            <a:ext cx="6400800" cy="59436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“90s Chocolate brings back the sweet feeling!”</a:t>
            </a:r>
          </a:p>
        </p:txBody>
      </p:sp>
      <p:sp>
        <p:nvSpPr>
          <p:cNvPr id="14" name="Rounded Rectangle 13"/>
          <p:cNvSpPr/>
          <p:nvPr/>
        </p:nvSpPr>
        <p:spPr>
          <a:xfrm>
            <a:off x="640080" y="3209544"/>
            <a:ext cx="10927080" cy="80467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28416"/>
            <a:ext cx="1188720" cy="50292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12–20 sec</a:t>
            </a:r>
          </a:p>
        </p:txBody>
      </p:sp>
      <p:sp>
        <p:nvSpPr>
          <p:cNvPr id="16" name="TextBox 15"/>
          <p:cNvSpPr txBox="1"/>
          <p:nvPr/>
        </p:nvSpPr>
        <p:spPr>
          <a:xfrm>
            <a:off x="2103120" y="3328416"/>
            <a:ext cx="2743200" cy="54864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Friends sharing chocolate</a:t>
            </a:r>
          </a:p>
        </p:txBody>
      </p:sp>
      <p:sp>
        <p:nvSpPr>
          <p:cNvPr id="17" name="TextBox 16"/>
          <p:cNvSpPr txBox="1"/>
          <p:nvPr/>
        </p:nvSpPr>
        <p:spPr>
          <a:xfrm>
            <a:off x="4892040" y="3319272"/>
            <a:ext cx="6400800" cy="59436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“Share a bite and create happy memories with friends.”</a:t>
            </a:r>
          </a:p>
        </p:txBody>
      </p:sp>
      <p:sp>
        <p:nvSpPr>
          <p:cNvPr id="18" name="Rounded Rectangle 17"/>
          <p:cNvSpPr/>
          <p:nvPr/>
        </p:nvSpPr>
        <p:spPr>
          <a:xfrm>
            <a:off x="640080" y="4105656"/>
            <a:ext cx="10927080" cy="804672"/>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24528"/>
            <a:ext cx="1188720" cy="50292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20–26 sec</a:t>
            </a:r>
          </a:p>
        </p:txBody>
      </p:sp>
      <p:sp>
        <p:nvSpPr>
          <p:cNvPr id="20" name="TextBox 19"/>
          <p:cNvSpPr txBox="1"/>
          <p:nvPr/>
        </p:nvSpPr>
        <p:spPr>
          <a:xfrm>
            <a:off x="2103120" y="4224528"/>
            <a:ext cx="2743200" cy="54864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Product close-up</a:t>
            </a:r>
          </a:p>
        </p:txBody>
      </p:sp>
      <p:sp>
        <p:nvSpPr>
          <p:cNvPr id="21" name="TextBox 20"/>
          <p:cNvSpPr txBox="1"/>
          <p:nvPr/>
        </p:nvSpPr>
        <p:spPr>
          <a:xfrm>
            <a:off x="4892040" y="4215384"/>
            <a:ext cx="6400800" cy="59436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“A little chocolate, a lot of happiness!”</a:t>
            </a:r>
          </a:p>
        </p:txBody>
      </p:sp>
      <p:sp>
        <p:nvSpPr>
          <p:cNvPr id="22" name="Rounded Rectangle 21"/>
          <p:cNvSpPr/>
          <p:nvPr/>
        </p:nvSpPr>
        <p:spPr>
          <a:xfrm>
            <a:off x="640080" y="5001768"/>
            <a:ext cx="10927080" cy="80467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1188720" cy="502920"/>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26–30 sec</a:t>
            </a:r>
          </a:p>
        </p:txBody>
      </p:sp>
      <p:sp>
        <p:nvSpPr>
          <p:cNvPr id="24" name="TextBox 23"/>
          <p:cNvSpPr txBox="1"/>
          <p:nvPr/>
        </p:nvSpPr>
        <p:spPr>
          <a:xfrm>
            <a:off x="2103120" y="5120640"/>
            <a:ext cx="2743200" cy="54864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Logo and slogan</a:t>
            </a:r>
          </a:p>
        </p:txBody>
      </p:sp>
      <p:sp>
        <p:nvSpPr>
          <p:cNvPr id="25" name="TextBox 24"/>
          <p:cNvSpPr txBox="1"/>
          <p:nvPr/>
        </p:nvSpPr>
        <p:spPr>
          <a:xfrm>
            <a:off x="4892040" y="5111496"/>
            <a:ext cx="6400800" cy="59436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“90s Chocolate — Taste the Good Old Days! Get yours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07 | SEVEN-DAY CONTENT CALENDAR</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A simple weekly posting plan</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8</a:t>
            </a:r>
          </a:p>
        </p:txBody>
      </p:sp>
      <p:sp>
        <p:nvSpPr>
          <p:cNvPr id="6" name="Rounded Rectangle 5"/>
          <p:cNvSpPr/>
          <p:nvPr/>
        </p:nvSpPr>
        <p:spPr>
          <a:xfrm>
            <a:off x="685800" y="1325880"/>
            <a:ext cx="10789920" cy="566928"/>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99032"/>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MON</a:t>
            </a:r>
          </a:p>
        </p:txBody>
      </p:sp>
      <p:sp>
        <p:nvSpPr>
          <p:cNvPr id="8" name="TextBox 7"/>
          <p:cNvSpPr txBox="1"/>
          <p:nvPr/>
        </p:nvSpPr>
        <p:spPr>
          <a:xfrm>
            <a:off x="2194560" y="1399032"/>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Brand introduction</a:t>
            </a:r>
          </a:p>
        </p:txBody>
      </p:sp>
      <p:sp>
        <p:nvSpPr>
          <p:cNvPr id="9" name="TextBox 8"/>
          <p:cNvSpPr txBox="1"/>
          <p:nvPr/>
        </p:nvSpPr>
        <p:spPr>
          <a:xfrm>
            <a:off x="8458200" y="1399032"/>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Awareness</a:t>
            </a:r>
          </a:p>
        </p:txBody>
      </p:sp>
      <p:sp>
        <p:nvSpPr>
          <p:cNvPr id="10" name="Rounded Rectangle 9"/>
          <p:cNvSpPr/>
          <p:nvPr/>
        </p:nvSpPr>
        <p:spPr>
          <a:xfrm>
            <a:off x="685800" y="1984248"/>
            <a:ext cx="10789920" cy="566928"/>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57400"/>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TUE</a:t>
            </a:r>
          </a:p>
        </p:txBody>
      </p:sp>
      <p:sp>
        <p:nvSpPr>
          <p:cNvPr id="12" name="TextBox 11"/>
          <p:cNvSpPr txBox="1"/>
          <p:nvPr/>
        </p:nvSpPr>
        <p:spPr>
          <a:xfrm>
            <a:off x="2194560" y="2057400"/>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Chocolate close-up Reel</a:t>
            </a:r>
          </a:p>
        </p:txBody>
      </p:sp>
      <p:sp>
        <p:nvSpPr>
          <p:cNvPr id="13" name="TextBox 12"/>
          <p:cNvSpPr txBox="1"/>
          <p:nvPr/>
        </p:nvSpPr>
        <p:spPr>
          <a:xfrm>
            <a:off x="8458200" y="2057400"/>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Attention</a:t>
            </a:r>
          </a:p>
        </p:txBody>
      </p:sp>
      <p:sp>
        <p:nvSpPr>
          <p:cNvPr id="14" name="Rounded Rectangle 13"/>
          <p:cNvSpPr/>
          <p:nvPr/>
        </p:nvSpPr>
        <p:spPr>
          <a:xfrm>
            <a:off x="685800" y="2642615"/>
            <a:ext cx="10789920" cy="566928"/>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15768"/>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WED</a:t>
            </a:r>
          </a:p>
        </p:txBody>
      </p:sp>
      <p:sp>
        <p:nvSpPr>
          <p:cNvPr id="16" name="TextBox 15"/>
          <p:cNvSpPr txBox="1"/>
          <p:nvPr/>
        </p:nvSpPr>
        <p:spPr>
          <a:xfrm>
            <a:off x="2194560" y="2715768"/>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Product photos / highlights</a:t>
            </a:r>
          </a:p>
        </p:txBody>
      </p:sp>
      <p:sp>
        <p:nvSpPr>
          <p:cNvPr id="17" name="TextBox 16"/>
          <p:cNvSpPr txBox="1"/>
          <p:nvPr/>
        </p:nvSpPr>
        <p:spPr>
          <a:xfrm>
            <a:off x="8458200" y="2715768"/>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Showcase</a:t>
            </a:r>
          </a:p>
        </p:txBody>
      </p:sp>
      <p:sp>
        <p:nvSpPr>
          <p:cNvPr id="18" name="Rounded Rectangle 17"/>
          <p:cNvSpPr/>
          <p:nvPr/>
        </p:nvSpPr>
        <p:spPr>
          <a:xfrm>
            <a:off x="685800" y="3300984"/>
            <a:ext cx="10789920" cy="566928"/>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374136"/>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THU</a:t>
            </a:r>
          </a:p>
        </p:txBody>
      </p:sp>
      <p:sp>
        <p:nvSpPr>
          <p:cNvPr id="20" name="TextBox 19"/>
          <p:cNvSpPr txBox="1"/>
          <p:nvPr/>
        </p:nvSpPr>
        <p:spPr>
          <a:xfrm>
            <a:off x="2194560" y="3374136"/>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Poll: favourite chocolate moment?</a:t>
            </a:r>
          </a:p>
        </p:txBody>
      </p:sp>
      <p:sp>
        <p:nvSpPr>
          <p:cNvPr id="21" name="TextBox 20"/>
          <p:cNvSpPr txBox="1"/>
          <p:nvPr/>
        </p:nvSpPr>
        <p:spPr>
          <a:xfrm>
            <a:off x="8458200" y="3374136"/>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Engagement</a:t>
            </a:r>
          </a:p>
        </p:txBody>
      </p:sp>
      <p:sp>
        <p:nvSpPr>
          <p:cNvPr id="22" name="Rounded Rectangle 21"/>
          <p:cNvSpPr/>
          <p:nvPr/>
        </p:nvSpPr>
        <p:spPr>
          <a:xfrm>
            <a:off x="685800" y="3959352"/>
            <a:ext cx="10789920" cy="566928"/>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032504"/>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FRI</a:t>
            </a:r>
          </a:p>
        </p:txBody>
      </p:sp>
      <p:sp>
        <p:nvSpPr>
          <p:cNvPr id="24" name="TextBox 23"/>
          <p:cNvSpPr txBox="1"/>
          <p:nvPr/>
        </p:nvSpPr>
        <p:spPr>
          <a:xfrm>
            <a:off x="2194560" y="4032504"/>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Promotional offer post</a:t>
            </a:r>
          </a:p>
        </p:txBody>
      </p:sp>
      <p:sp>
        <p:nvSpPr>
          <p:cNvPr id="25" name="TextBox 24"/>
          <p:cNvSpPr txBox="1"/>
          <p:nvPr/>
        </p:nvSpPr>
        <p:spPr>
          <a:xfrm>
            <a:off x="8458200" y="4032504"/>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Purchase intent</a:t>
            </a:r>
          </a:p>
        </p:txBody>
      </p:sp>
      <p:sp>
        <p:nvSpPr>
          <p:cNvPr id="26" name="Rounded Rectangle 25"/>
          <p:cNvSpPr/>
          <p:nvPr/>
        </p:nvSpPr>
        <p:spPr>
          <a:xfrm>
            <a:off x="685800" y="4617720"/>
            <a:ext cx="10789920" cy="566928"/>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690872"/>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SAT</a:t>
            </a:r>
          </a:p>
        </p:txBody>
      </p:sp>
      <p:sp>
        <p:nvSpPr>
          <p:cNvPr id="28" name="TextBox 27"/>
          <p:cNvSpPr txBox="1"/>
          <p:nvPr/>
        </p:nvSpPr>
        <p:spPr>
          <a:xfrm>
            <a:off x="2194560" y="4690872"/>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Friends sharing chocolate Reel</a:t>
            </a:r>
          </a:p>
        </p:txBody>
      </p:sp>
      <p:sp>
        <p:nvSpPr>
          <p:cNvPr id="29" name="TextBox 28"/>
          <p:cNvSpPr txBox="1"/>
          <p:nvPr/>
        </p:nvSpPr>
        <p:spPr>
          <a:xfrm>
            <a:off x="8458200" y="4690872"/>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Campus connection</a:t>
            </a:r>
          </a:p>
        </p:txBody>
      </p:sp>
      <p:sp>
        <p:nvSpPr>
          <p:cNvPr id="30" name="Rounded Rectangle 29"/>
          <p:cNvSpPr/>
          <p:nvPr/>
        </p:nvSpPr>
        <p:spPr>
          <a:xfrm>
            <a:off x="685800" y="5276088"/>
            <a:ext cx="10789920" cy="566928"/>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349240"/>
            <a:ext cx="1188720" cy="384048"/>
          </a:xfrm>
          <a:prstGeom prst="rect">
            <a:avLst/>
          </a:prstGeom>
          <a:noFill/>
        </p:spPr>
        <p:txBody>
          <a:bodyPr wrap="square" lIns="54864" rIns="54864" tIns="54864" bIns="54864">
            <a:spAutoFit/>
          </a:bodyPr>
          <a:lstStyle/>
          <a:p>
            <a:pPr>
              <a:spcAft>
                <a:spcPts val="500"/>
              </a:spcAft>
              <a:defRPr sz="1600" b="1">
                <a:solidFill>
                  <a:srgbClr val="5B2C1F"/>
                </a:solidFill>
                <a:latin typeface="Aptos"/>
              </a:defRPr>
            </a:pPr>
            <a:r>
              <a:t>SUN</a:t>
            </a:r>
          </a:p>
        </p:txBody>
      </p:sp>
      <p:sp>
        <p:nvSpPr>
          <p:cNvPr id="32" name="TextBox 31"/>
          <p:cNvSpPr txBox="1"/>
          <p:nvPr/>
        </p:nvSpPr>
        <p:spPr>
          <a:xfrm>
            <a:off x="2194560" y="5349240"/>
            <a:ext cx="5943600" cy="384048"/>
          </a:xfrm>
          <a:prstGeom prst="rect">
            <a:avLst/>
          </a:prstGeom>
          <a:noFill/>
        </p:spPr>
        <p:txBody>
          <a:bodyPr wrap="square" lIns="54864" rIns="54864" tIns="54864" bIns="54864">
            <a:spAutoFit/>
          </a:bodyPr>
          <a:lstStyle/>
          <a:p>
            <a:pPr>
              <a:spcAft>
                <a:spcPts val="500"/>
              </a:spcAft>
              <a:defRPr sz="1500" b="0">
                <a:solidFill>
                  <a:srgbClr val="292321"/>
                </a:solidFill>
                <a:latin typeface="Aptos"/>
              </a:defRPr>
            </a:pPr>
            <a:r>
              <a:t>Weekly recap / thank-you</a:t>
            </a:r>
          </a:p>
        </p:txBody>
      </p:sp>
      <p:sp>
        <p:nvSpPr>
          <p:cNvPr id="33" name="TextBox 32"/>
          <p:cNvSpPr txBox="1"/>
          <p:nvPr/>
        </p:nvSpPr>
        <p:spPr>
          <a:xfrm>
            <a:off x="8458200" y="5349240"/>
            <a:ext cx="2651760" cy="384048"/>
          </a:xfrm>
          <a:prstGeom prst="rect">
            <a:avLst/>
          </a:prstGeom>
          <a:noFill/>
        </p:spPr>
        <p:txBody>
          <a:bodyPr wrap="square" lIns="54864" rIns="54864" tIns="54864" bIns="54864">
            <a:spAutoFit/>
          </a:bodyPr>
          <a:lstStyle/>
          <a:p>
            <a:pPr>
              <a:spcAft>
                <a:spcPts val="500"/>
              </a:spcAft>
              <a:defRPr sz="1400" b="1">
                <a:solidFill>
                  <a:srgbClr val="7A5A4D"/>
                </a:solidFill>
                <a:latin typeface="Aptos"/>
              </a:defRPr>
            </a:pPr>
            <a:r>
              <a:t>Loyalty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08 | 45-SECOND VIDEO STORYBOARD</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Scene-by-scene video content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9</a:t>
            </a:r>
          </a:p>
        </p:txBody>
      </p:sp>
      <p:sp>
        <p:nvSpPr>
          <p:cNvPr id="6" name="Rounded Rectangle 5"/>
          <p:cNvSpPr/>
          <p:nvPr/>
        </p:nvSpPr>
        <p:spPr>
          <a:xfrm>
            <a:off x="640080" y="1325880"/>
            <a:ext cx="10927080" cy="71323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35607"/>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0–5 sec</a:t>
            </a:r>
          </a:p>
        </p:txBody>
      </p:sp>
      <p:sp>
        <p:nvSpPr>
          <p:cNvPr id="8" name="TextBox 7"/>
          <p:cNvSpPr txBox="1"/>
          <p:nvPr/>
        </p:nvSpPr>
        <p:spPr>
          <a:xfrm>
            <a:off x="2148840" y="1417320"/>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College friends walking</a:t>
            </a:r>
          </a:p>
        </p:txBody>
      </p:sp>
      <p:sp>
        <p:nvSpPr>
          <p:cNvPr id="9" name="TextBox 8"/>
          <p:cNvSpPr txBox="1"/>
          <p:nvPr/>
        </p:nvSpPr>
        <p:spPr>
          <a:xfrm>
            <a:off x="5166360" y="1399032"/>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“Remember the simple joys?”</a:t>
            </a:r>
          </a:p>
        </p:txBody>
      </p:sp>
      <p:sp>
        <p:nvSpPr>
          <p:cNvPr id="10" name="Rounded Rectangle 9"/>
          <p:cNvSpPr/>
          <p:nvPr/>
        </p:nvSpPr>
        <p:spPr>
          <a:xfrm>
            <a:off x="640080" y="2112264"/>
            <a:ext cx="10927080" cy="713232"/>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21992"/>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5–10 sec</a:t>
            </a:r>
          </a:p>
        </p:txBody>
      </p:sp>
      <p:sp>
        <p:nvSpPr>
          <p:cNvPr id="12" name="TextBox 11"/>
          <p:cNvSpPr txBox="1"/>
          <p:nvPr/>
        </p:nvSpPr>
        <p:spPr>
          <a:xfrm>
            <a:off x="2148840" y="2203704"/>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Chocolate packet close-up</a:t>
            </a:r>
          </a:p>
        </p:txBody>
      </p:sp>
      <p:sp>
        <p:nvSpPr>
          <p:cNvPr id="13" name="TextBox 12"/>
          <p:cNvSpPr txBox="1"/>
          <p:nvPr/>
        </p:nvSpPr>
        <p:spPr>
          <a:xfrm>
            <a:off x="5166360" y="2185416"/>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“Meet 90s Chocolate!”</a:t>
            </a:r>
          </a:p>
        </p:txBody>
      </p:sp>
      <p:sp>
        <p:nvSpPr>
          <p:cNvPr id="14" name="Rounded Rectangle 13"/>
          <p:cNvSpPr/>
          <p:nvPr/>
        </p:nvSpPr>
        <p:spPr>
          <a:xfrm>
            <a:off x="640080" y="2898648"/>
            <a:ext cx="10927080" cy="71323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08376"/>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10–18 sec</a:t>
            </a:r>
          </a:p>
        </p:txBody>
      </p:sp>
      <p:sp>
        <p:nvSpPr>
          <p:cNvPr id="16" name="TextBox 15"/>
          <p:cNvSpPr txBox="1"/>
          <p:nvPr/>
        </p:nvSpPr>
        <p:spPr>
          <a:xfrm>
            <a:off x="2148840" y="2990088"/>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Chocolate close-up shots</a:t>
            </a:r>
          </a:p>
        </p:txBody>
      </p:sp>
      <p:sp>
        <p:nvSpPr>
          <p:cNvPr id="17" name="TextBox 16"/>
          <p:cNvSpPr txBox="1"/>
          <p:nvPr/>
        </p:nvSpPr>
        <p:spPr>
          <a:xfrm>
            <a:off x="5166360" y="2971800"/>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“Make every moment sweeter.”</a:t>
            </a:r>
          </a:p>
        </p:txBody>
      </p:sp>
      <p:sp>
        <p:nvSpPr>
          <p:cNvPr id="18" name="Rounded Rectangle 17"/>
          <p:cNvSpPr/>
          <p:nvPr/>
        </p:nvSpPr>
        <p:spPr>
          <a:xfrm>
            <a:off x="640080" y="3685032"/>
            <a:ext cx="10927080" cy="713232"/>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794760"/>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18–27 sec</a:t>
            </a:r>
          </a:p>
        </p:txBody>
      </p:sp>
      <p:sp>
        <p:nvSpPr>
          <p:cNvPr id="20" name="TextBox 19"/>
          <p:cNvSpPr txBox="1"/>
          <p:nvPr/>
        </p:nvSpPr>
        <p:spPr>
          <a:xfrm>
            <a:off x="2148840" y="3776472"/>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Friends sharing chocolate</a:t>
            </a:r>
          </a:p>
        </p:txBody>
      </p:sp>
      <p:sp>
        <p:nvSpPr>
          <p:cNvPr id="21" name="TextBox 20"/>
          <p:cNvSpPr txBox="1"/>
          <p:nvPr/>
        </p:nvSpPr>
        <p:spPr>
          <a:xfrm>
            <a:off x="5166360" y="3758184"/>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“Share a bite. Share a memory.”</a:t>
            </a:r>
          </a:p>
        </p:txBody>
      </p:sp>
      <p:sp>
        <p:nvSpPr>
          <p:cNvPr id="22" name="Rounded Rectangle 21"/>
          <p:cNvSpPr/>
          <p:nvPr/>
        </p:nvSpPr>
        <p:spPr>
          <a:xfrm>
            <a:off x="640080" y="4471416"/>
            <a:ext cx="10927080" cy="713232"/>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81144"/>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27–35 sec</a:t>
            </a:r>
          </a:p>
        </p:txBody>
      </p:sp>
      <p:sp>
        <p:nvSpPr>
          <p:cNvPr id="24" name="TextBox 23"/>
          <p:cNvSpPr txBox="1"/>
          <p:nvPr/>
        </p:nvSpPr>
        <p:spPr>
          <a:xfrm>
            <a:off x="2148840" y="4562856"/>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Product packaging reveal</a:t>
            </a:r>
          </a:p>
        </p:txBody>
      </p:sp>
      <p:sp>
        <p:nvSpPr>
          <p:cNvPr id="25" name="TextBox 24"/>
          <p:cNvSpPr txBox="1"/>
          <p:nvPr/>
        </p:nvSpPr>
        <p:spPr>
          <a:xfrm>
            <a:off x="5166360" y="4544568"/>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“A little chocolate, a lot of happiness.”</a:t>
            </a:r>
          </a:p>
        </p:txBody>
      </p:sp>
      <p:sp>
        <p:nvSpPr>
          <p:cNvPr id="26" name="Rounded Rectangle 25"/>
          <p:cNvSpPr/>
          <p:nvPr/>
        </p:nvSpPr>
        <p:spPr>
          <a:xfrm>
            <a:off x="640080" y="5257800"/>
            <a:ext cx="10927080" cy="713232"/>
          </a:xfrm>
          <a:prstGeom prst="roundRect">
            <a:avLst/>
          </a:prstGeom>
          <a:solidFill>
            <a:srgbClr val="FAEFDD"/>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367528"/>
            <a:ext cx="1234440" cy="457200"/>
          </a:xfrm>
          <a:prstGeom prst="rect">
            <a:avLst/>
          </a:prstGeom>
          <a:noFill/>
        </p:spPr>
        <p:txBody>
          <a:bodyPr wrap="square" lIns="54864" rIns="54864" tIns="54864" bIns="54864">
            <a:spAutoFit/>
          </a:bodyPr>
          <a:lstStyle/>
          <a:p>
            <a:pPr>
              <a:spcAft>
                <a:spcPts val="500"/>
              </a:spcAft>
              <a:defRPr sz="1500" b="1">
                <a:solidFill>
                  <a:srgbClr val="5B2C1F"/>
                </a:solidFill>
                <a:latin typeface="Aptos"/>
              </a:defRPr>
            </a:pPr>
            <a:r>
              <a:t>35–45 sec</a:t>
            </a:r>
          </a:p>
        </p:txBody>
      </p:sp>
      <p:sp>
        <p:nvSpPr>
          <p:cNvPr id="28" name="TextBox 27"/>
          <p:cNvSpPr txBox="1"/>
          <p:nvPr/>
        </p:nvSpPr>
        <p:spPr>
          <a:xfrm>
            <a:off x="2148840" y="5349240"/>
            <a:ext cx="2926080" cy="502920"/>
          </a:xfrm>
          <a:prstGeom prst="rect">
            <a:avLst/>
          </a:prstGeom>
          <a:noFill/>
        </p:spPr>
        <p:txBody>
          <a:bodyPr wrap="square" lIns="54864" rIns="54864" tIns="54864" bIns="54864">
            <a:spAutoFit/>
          </a:bodyPr>
          <a:lstStyle/>
          <a:p>
            <a:pPr>
              <a:spcAft>
                <a:spcPts val="500"/>
              </a:spcAft>
              <a:defRPr sz="1400" b="1">
                <a:solidFill>
                  <a:srgbClr val="292321"/>
                </a:solidFill>
                <a:latin typeface="Aptos"/>
              </a:defRPr>
            </a:pPr>
            <a:r>
              <a:t>Brand end card</a:t>
            </a:r>
          </a:p>
        </p:txBody>
      </p:sp>
      <p:sp>
        <p:nvSpPr>
          <p:cNvPr id="29" name="TextBox 28"/>
          <p:cNvSpPr txBox="1"/>
          <p:nvPr/>
        </p:nvSpPr>
        <p:spPr>
          <a:xfrm>
            <a:off x="5166360" y="5330952"/>
            <a:ext cx="6126480" cy="548640"/>
          </a:xfrm>
          <a:prstGeom prst="rect">
            <a:avLst/>
          </a:prstGeom>
          <a:noFill/>
        </p:spPr>
        <p:txBody>
          <a:bodyPr wrap="square" lIns="54864" rIns="54864" tIns="54864" bIns="54864">
            <a:spAutoFit/>
          </a:bodyPr>
          <a:lstStyle/>
          <a:p>
            <a:pPr>
              <a:spcAft>
                <a:spcPts val="500"/>
              </a:spcAft>
              <a:defRPr sz="1400" b="0">
                <a:solidFill>
                  <a:srgbClr val="292321"/>
                </a:solidFill>
                <a:latin typeface="Aptos"/>
              </a:defRPr>
            </a:pPr>
            <a:r>
              <a:t>“90s Chocolate — Taste the Good Old Days! Get yours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09 | VIDEO PRODUCTION NOTES</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How to turn the storyboard into a Reel</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10</a:t>
            </a:r>
          </a:p>
        </p:txBody>
      </p:sp>
      <p:sp>
        <p:nvSpPr>
          <p:cNvPr id="6" name="Rounded Rectangle 5"/>
          <p:cNvSpPr/>
          <p:nvPr/>
        </p:nvSpPr>
        <p:spPr>
          <a:xfrm>
            <a:off x="731520" y="1417320"/>
            <a:ext cx="521208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57200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FORMAT</a:t>
            </a:r>
          </a:p>
        </p:txBody>
      </p:sp>
      <p:sp>
        <p:nvSpPr>
          <p:cNvPr id="8" name="TextBox 7"/>
          <p:cNvSpPr txBox="1"/>
          <p:nvPr/>
        </p:nvSpPr>
        <p:spPr>
          <a:xfrm>
            <a:off x="1005840" y="2148840"/>
            <a:ext cx="4572000" cy="41148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Vertical 9:16</a:t>
            </a:r>
          </a:p>
        </p:txBody>
      </p:sp>
      <p:sp>
        <p:nvSpPr>
          <p:cNvPr id="9" name="TextBox 8"/>
          <p:cNvSpPr txBox="1"/>
          <p:nvPr/>
        </p:nvSpPr>
        <p:spPr>
          <a:xfrm>
            <a:off x="1005840" y="2788920"/>
            <a:ext cx="457200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DURATION</a:t>
            </a:r>
          </a:p>
        </p:txBody>
      </p:sp>
      <p:sp>
        <p:nvSpPr>
          <p:cNvPr id="10" name="TextBox 9"/>
          <p:cNvSpPr txBox="1"/>
          <p:nvPr/>
        </p:nvSpPr>
        <p:spPr>
          <a:xfrm>
            <a:off x="1005840" y="3200400"/>
            <a:ext cx="4572000" cy="41148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30–45 seconds</a:t>
            </a:r>
          </a:p>
        </p:txBody>
      </p:sp>
      <p:sp>
        <p:nvSpPr>
          <p:cNvPr id="11" name="TextBox 10"/>
          <p:cNvSpPr txBox="1"/>
          <p:nvPr/>
        </p:nvSpPr>
        <p:spPr>
          <a:xfrm>
            <a:off x="1005840" y="3840480"/>
            <a:ext cx="457200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TEXT</a:t>
            </a:r>
          </a:p>
        </p:txBody>
      </p:sp>
      <p:sp>
        <p:nvSpPr>
          <p:cNvPr id="12" name="TextBox 11"/>
          <p:cNvSpPr txBox="1"/>
          <p:nvPr/>
        </p:nvSpPr>
        <p:spPr>
          <a:xfrm>
            <a:off x="1005840" y="4251960"/>
            <a:ext cx="4572000" cy="685800"/>
          </a:xfrm>
          <a:prstGeom prst="rect">
            <a:avLst/>
          </a:prstGeom>
          <a:noFill/>
        </p:spPr>
        <p:txBody>
          <a:bodyPr wrap="square" lIns="54864" rIns="54864" tIns="54864" bIns="54864">
            <a:spAutoFit/>
          </a:bodyPr>
          <a:lstStyle/>
          <a:p>
            <a:pPr>
              <a:spcAft>
                <a:spcPts val="500"/>
              </a:spcAft>
              <a:defRPr sz="1600" b="0">
                <a:solidFill>
                  <a:srgbClr val="292321"/>
                </a:solidFill>
                <a:latin typeface="Aptos"/>
              </a:defRPr>
            </a:pPr>
            <a:r>
              <a:t>Clear, readable titles</a:t>
            </a:r>
          </a:p>
        </p:txBody>
      </p:sp>
      <p:sp>
        <p:nvSpPr>
          <p:cNvPr id="13" name="Rounded Rectangle 12"/>
          <p:cNvSpPr/>
          <p:nvPr/>
        </p:nvSpPr>
        <p:spPr>
          <a:xfrm>
            <a:off x="6217920" y="1417320"/>
            <a:ext cx="5212080" cy="448056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737360"/>
            <a:ext cx="457200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VISUALS</a:t>
            </a:r>
          </a:p>
        </p:txBody>
      </p:sp>
      <p:sp>
        <p:nvSpPr>
          <p:cNvPr id="15" name="TextBox 14"/>
          <p:cNvSpPr txBox="1"/>
          <p:nvPr/>
        </p:nvSpPr>
        <p:spPr>
          <a:xfrm>
            <a:off x="6492240" y="2148840"/>
            <a:ext cx="4480560" cy="1188720"/>
          </a:xfrm>
          <a:prstGeom prst="rect">
            <a:avLst/>
          </a:prstGeom>
          <a:noFill/>
        </p:spPr>
        <p:txBody>
          <a:bodyPr wrap="square" lIns="73152" rIns="54864" tIns="36576" bIns="36576">
            <a:spAutoFit/>
          </a:bodyPr>
          <a:lstStyle/>
          <a:p>
            <a:pPr>
              <a:spcAft>
                <a:spcPts val="800"/>
              </a:spcAft>
              <a:defRPr sz="1600">
                <a:solidFill>
                  <a:srgbClr val="292321"/>
                </a:solidFill>
                <a:latin typeface="Aptos"/>
              </a:defRPr>
            </a:pPr>
            <a:r>
              <a:t>•  Chocolate close-ups</a:t>
            </a:r>
          </a:p>
          <a:p>
            <a:pPr>
              <a:spcAft>
                <a:spcPts val="800"/>
              </a:spcAft>
              <a:defRPr sz="1600">
                <a:solidFill>
                  <a:srgbClr val="292321"/>
                </a:solidFill>
                <a:latin typeface="Aptos"/>
              </a:defRPr>
            </a:pPr>
            <a:r>
              <a:t>•  Campus friendship</a:t>
            </a:r>
          </a:p>
          <a:p>
            <a:pPr>
              <a:spcAft>
                <a:spcPts val="800"/>
              </a:spcAft>
              <a:defRPr sz="1600">
                <a:solidFill>
                  <a:srgbClr val="292321"/>
                </a:solidFill>
                <a:latin typeface="Aptos"/>
              </a:defRPr>
            </a:pPr>
            <a:r>
              <a:t>•  Product reveal</a:t>
            </a:r>
          </a:p>
        </p:txBody>
      </p:sp>
      <p:sp>
        <p:nvSpPr>
          <p:cNvPr id="16" name="TextBox 15"/>
          <p:cNvSpPr txBox="1"/>
          <p:nvPr/>
        </p:nvSpPr>
        <p:spPr>
          <a:xfrm>
            <a:off x="6492240" y="3657600"/>
            <a:ext cx="4572000" cy="411480"/>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EDITING</a:t>
            </a:r>
          </a:p>
        </p:txBody>
      </p:sp>
      <p:sp>
        <p:nvSpPr>
          <p:cNvPr id="17" name="TextBox 16"/>
          <p:cNvSpPr txBox="1"/>
          <p:nvPr/>
        </p:nvSpPr>
        <p:spPr>
          <a:xfrm>
            <a:off x="6492240" y="4069080"/>
            <a:ext cx="4480560" cy="1280160"/>
          </a:xfrm>
          <a:prstGeom prst="rect">
            <a:avLst/>
          </a:prstGeom>
          <a:noFill/>
        </p:spPr>
        <p:txBody>
          <a:bodyPr wrap="square" lIns="73152" rIns="54864" tIns="36576" bIns="36576">
            <a:spAutoFit/>
          </a:bodyPr>
          <a:lstStyle/>
          <a:p>
            <a:pPr>
              <a:spcAft>
                <a:spcPts val="800"/>
              </a:spcAft>
              <a:defRPr sz="1600">
                <a:solidFill>
                  <a:srgbClr val="292321"/>
                </a:solidFill>
                <a:latin typeface="Aptos"/>
              </a:defRPr>
            </a:pPr>
            <a:r>
              <a:t>•  Upbeat background music</a:t>
            </a:r>
          </a:p>
          <a:p>
            <a:pPr>
              <a:spcAft>
                <a:spcPts val="800"/>
              </a:spcAft>
              <a:defRPr sz="1600">
                <a:solidFill>
                  <a:srgbClr val="292321"/>
                </a:solidFill>
                <a:latin typeface="Aptos"/>
              </a:defRPr>
            </a:pPr>
            <a:r>
              <a:t>•  Smooth transitions</a:t>
            </a:r>
          </a:p>
          <a:p>
            <a:pPr>
              <a:spcAft>
                <a:spcPts val="800"/>
              </a:spcAft>
              <a:defRPr sz="1600">
                <a:solidFill>
                  <a:srgbClr val="292321"/>
                </a:solidFill>
                <a:latin typeface="Aptos"/>
              </a:defRPr>
            </a:pPr>
            <a:r>
              <a:t>•  Clear voice-over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APPENDIX A | BRAND LOGO PROMPT</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AI prompt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11</a:t>
            </a:r>
          </a:p>
        </p:txBody>
      </p:sp>
      <p:pic>
        <p:nvPicPr>
          <p:cNvPr id="6" name="Picture 5" descr="a_clean_centered_graphic_logo_branding_illustrat.png"/>
          <p:cNvPicPr>
            <a:picLocks noChangeAspect="1"/>
          </p:cNvPicPr>
          <p:nvPr/>
        </p:nvPicPr>
        <p:blipFill>
          <a:blip r:embed="rId2"/>
          <a:stretch>
            <a:fillRect/>
          </a:stretch>
        </p:blipFill>
        <p:spPr>
          <a:xfrm>
            <a:off x="594360" y="1645920"/>
            <a:ext cx="3840480" cy="3840480"/>
          </a:xfrm>
          <a:prstGeom prst="rect">
            <a:avLst/>
          </a:prstGeom>
        </p:spPr>
      </p:pic>
      <p:sp>
        <p:nvSpPr>
          <p:cNvPr id="7" name="Rounded Rectangle 6"/>
          <p:cNvSpPr/>
          <p:nvPr/>
        </p:nvSpPr>
        <p:spPr>
          <a:xfrm>
            <a:off x="4617720" y="1325880"/>
            <a:ext cx="6903720" cy="489204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572768"/>
            <a:ext cx="6446520" cy="4434840"/>
          </a:xfrm>
          <a:prstGeom prst="rect">
            <a:avLst/>
          </a:prstGeom>
          <a:noFill/>
        </p:spPr>
        <p:txBody>
          <a:bodyPr wrap="square" lIns="54864" rIns="54864" tIns="54864" bIns="54864">
            <a:spAutoFit/>
          </a:bodyPr>
          <a:lstStyle/>
          <a:p>
            <a:pPr>
              <a:spcAft>
                <a:spcPts val="500"/>
              </a:spcAft>
              <a:defRPr sz="1300" b="0">
                <a:solidFill>
                  <a:srgbClr val="292321"/>
                </a:solidFill>
                <a:latin typeface="Aptos"/>
              </a:defRPr>
            </a:pPr>
            <a:r>
              <a:t>Create a professional brand logo for a fictional chocolate brand named “90s Chocolate”, inspired by the nostalgia, fun, and happiness of the 1990s. Use bold, playful retro typography, with “90s” as the main visual element and “CHOCOLATE” clearly displayed underneath. Use chocolate brown, cream, golden yellow, and white as the brand colours. Include subtle vintage-inspired graphic elements and a premium chocolate-inspired appearance.</a:t>
            </a:r>
          </a:p>
          <a:p>
            <a:pPr>
              <a:spcAft>
                <a:spcPts val="500"/>
              </a:spcAft>
              <a:defRPr sz="1300" b="0">
                <a:solidFill>
                  <a:srgbClr val="292321"/>
                </a:solidFill>
                <a:latin typeface="Aptos"/>
              </a:defRPr>
            </a:pPr>
          </a:p>
          <a:p>
            <a:pPr>
              <a:spcAft>
                <a:spcPts val="500"/>
              </a:spcAft>
              <a:defRPr sz="1300" b="0">
                <a:solidFill>
                  <a:srgbClr val="292321"/>
                </a:solidFill>
                <a:latin typeface="Aptos"/>
              </a:defRPr>
            </a:pPr>
            <a:r>
              <a:t>Display the exact brand name “90s Chocolate” prominently and include the tagline “Taste the Good Old Days!” on a clean cream background. Make the logo memorable, youthful, friendly, and suitable for college students and young adults. Ensure the brand name and tagline are correctly spelled and readable.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APPENDIX B | CHOCOLATE PACKAGING PROMPT</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AI prompt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12</a:t>
            </a:r>
          </a:p>
        </p:txBody>
      </p:sp>
      <p:pic>
        <p:nvPicPr>
          <p:cNvPr id="6" name="Picture 5" descr="a_clean_commercial_product_photography_scene_on_a.png"/>
          <p:cNvPicPr>
            <a:picLocks noChangeAspect="1"/>
          </p:cNvPicPr>
          <p:nvPr/>
        </p:nvPicPr>
        <p:blipFill>
          <a:blip r:embed="rId2"/>
          <a:stretch>
            <a:fillRect/>
          </a:stretch>
        </p:blipFill>
        <p:spPr>
          <a:xfrm>
            <a:off x="594360" y="2179320"/>
            <a:ext cx="4572000" cy="3048000"/>
          </a:xfrm>
          <a:prstGeom prst="rect">
            <a:avLst/>
          </a:prstGeom>
        </p:spPr>
      </p:pic>
      <p:sp>
        <p:nvSpPr>
          <p:cNvPr id="7" name="Rounded Rectangle 6"/>
          <p:cNvSpPr/>
          <p:nvPr/>
        </p:nvSpPr>
        <p:spPr>
          <a:xfrm>
            <a:off x="5349240" y="1325880"/>
            <a:ext cx="6172200" cy="489204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1554480"/>
            <a:ext cx="5715000" cy="4480560"/>
          </a:xfrm>
          <a:prstGeom prst="rect">
            <a:avLst/>
          </a:prstGeom>
          <a:noFill/>
        </p:spPr>
        <p:txBody>
          <a:bodyPr wrap="square" lIns="54864" rIns="54864" tIns="54864" bIns="54864">
            <a:spAutoFit/>
          </a:bodyPr>
          <a:lstStyle/>
          <a:p>
            <a:pPr>
              <a:spcAft>
                <a:spcPts val="500"/>
              </a:spcAft>
              <a:defRPr sz="1200" b="0">
                <a:solidFill>
                  <a:srgbClr val="292321"/>
                </a:solidFill>
                <a:latin typeface="Aptos"/>
              </a:defRPr>
            </a:pPr>
            <a:r>
              <a:t>Create a realistic chocolate bar packaging mockup for the fictional brand “90s Chocolate”, inspired by the 1990s. Design an attractive chocolate wrapper using chocolate brown, cream, golden yellow, and white. Place the exact “90s Chocolate” logo prominently on the front of the package and include the tagline “Taste the Good Old Days!”</a:t>
            </a:r>
          </a:p>
          <a:p>
            <a:pPr>
              <a:spcAft>
                <a:spcPts val="500"/>
              </a:spcAft>
              <a:defRPr sz="1200" b="0">
                <a:solidFill>
                  <a:srgbClr val="292321"/>
                </a:solidFill>
                <a:latin typeface="Aptos"/>
              </a:defRPr>
            </a:pPr>
          </a:p>
          <a:p>
            <a:pPr>
              <a:spcAft>
                <a:spcPts val="500"/>
              </a:spcAft>
              <a:defRPr sz="1200" b="0">
                <a:solidFill>
                  <a:srgbClr val="292321"/>
                </a:solidFill>
                <a:latin typeface="Aptos"/>
              </a:defRPr>
            </a:pPr>
            <a:r>
              <a:t>Use bold retro typography, playful vintage patterns, nostalgic shapes, and appetising chocolate imagery. Show one fully wrapped chocolate bar alongside a partially unwrapped chocolate bar with a realistic chocolate texture. Use professional studio lighting, soft shadows, realistic packaging materials, and a clean cream background.</a:t>
            </a:r>
          </a:p>
          <a:p>
            <a:pPr>
              <a:spcAft>
                <a:spcPts val="500"/>
              </a:spcAft>
              <a:defRPr sz="1200" b="0">
                <a:solidFill>
                  <a:srgbClr val="292321"/>
                </a:solidFill>
                <a:latin typeface="Aptos"/>
              </a:defRPr>
            </a:pPr>
          </a:p>
          <a:p>
            <a:pPr>
              <a:spcAft>
                <a:spcPts val="500"/>
              </a:spcAft>
              <a:defRPr sz="1200" b="0">
                <a:solidFill>
                  <a:srgbClr val="292321"/>
                </a:solidFill>
                <a:latin typeface="Aptos"/>
              </a:defRPr>
            </a:pPr>
            <a:r>
              <a:t>Maintain the same logo, brand name, colours, and typography as the brand logo design. Ensure the brand name and tagline are clearly visible and correctly spelled.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A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457200"/>
          </a:xfrm>
          <a:prstGeom prst="rect">
            <a:avLst/>
          </a:prstGeom>
          <a:noFill/>
        </p:spPr>
        <p:txBody>
          <a:bodyPr wrap="square" lIns="54864" rIns="54864" tIns="54864" bIns="54864">
            <a:spAutoFit/>
          </a:bodyPr>
          <a:lstStyle/>
          <a:p>
            <a:pPr>
              <a:spcAft>
                <a:spcPts val="500"/>
              </a:spcAft>
              <a:defRPr sz="2000" b="1">
                <a:solidFill>
                  <a:srgbClr val="5B2C1F"/>
                </a:solidFill>
                <a:latin typeface="Aptos"/>
              </a:defRPr>
            </a:pPr>
            <a:r>
              <a:t>APPENDIX C | BILLBOARD PROMPT</a:t>
            </a:r>
          </a:p>
        </p:txBody>
      </p:sp>
      <p:sp>
        <p:nvSpPr>
          <p:cNvPr id="4" name="TextBox 3"/>
          <p:cNvSpPr txBox="1"/>
          <p:nvPr/>
        </p:nvSpPr>
        <p:spPr>
          <a:xfrm>
            <a:off x="530352" y="804672"/>
            <a:ext cx="10972800" cy="329184"/>
          </a:xfrm>
          <a:prstGeom prst="rect">
            <a:avLst/>
          </a:prstGeom>
          <a:noFill/>
        </p:spPr>
        <p:txBody>
          <a:bodyPr wrap="square" lIns="54864" rIns="54864" tIns="54864" bIns="54864">
            <a:spAutoFit/>
          </a:bodyPr>
          <a:lstStyle/>
          <a:p>
            <a:pPr>
              <a:spcAft>
                <a:spcPts val="500"/>
              </a:spcAft>
              <a:defRPr sz="1600" b="1">
                <a:solidFill>
                  <a:srgbClr val="7A5A4D"/>
                </a:solidFill>
                <a:latin typeface="Aptos"/>
              </a:defRPr>
            </a:pPr>
            <a:r>
              <a:t>AI prompt</a:t>
            </a:r>
          </a:p>
        </p:txBody>
      </p:sp>
      <p:sp>
        <p:nvSpPr>
          <p:cNvPr id="5" name="TextBox 4"/>
          <p:cNvSpPr txBox="1"/>
          <p:nvPr/>
        </p:nvSpPr>
        <p:spPr>
          <a:xfrm>
            <a:off x="11155680" y="6510528"/>
            <a:ext cx="548640" cy="182880"/>
          </a:xfrm>
          <a:prstGeom prst="rect">
            <a:avLst/>
          </a:prstGeom>
          <a:noFill/>
        </p:spPr>
        <p:txBody>
          <a:bodyPr wrap="square" lIns="54864" rIns="54864" tIns="54864" bIns="54864">
            <a:spAutoFit/>
          </a:bodyPr>
          <a:lstStyle/>
          <a:p>
            <a:pPr algn="r">
              <a:spcAft>
                <a:spcPts val="500"/>
              </a:spcAft>
              <a:defRPr sz="900" b="0">
                <a:solidFill>
                  <a:srgbClr val="7A5A4D"/>
                </a:solidFill>
                <a:latin typeface="Aptos"/>
              </a:defRPr>
            </a:pPr>
            <a:r>
              <a:t>13</a:t>
            </a:r>
          </a:p>
        </p:txBody>
      </p:sp>
      <p:pic>
        <p:nvPicPr>
          <p:cNvPr id="6" name="Picture 5" descr="wide_outdoor_urban_scene_with_a_large_billboard_do.png"/>
          <p:cNvPicPr>
            <a:picLocks noChangeAspect="1"/>
          </p:cNvPicPr>
          <p:nvPr/>
        </p:nvPicPr>
        <p:blipFill>
          <a:blip r:embed="rId2"/>
          <a:stretch>
            <a:fillRect/>
          </a:stretch>
        </p:blipFill>
        <p:spPr>
          <a:xfrm>
            <a:off x="502919" y="1767839"/>
            <a:ext cx="5669280" cy="3779520"/>
          </a:xfrm>
          <a:prstGeom prst="rect">
            <a:avLst/>
          </a:prstGeom>
        </p:spPr>
      </p:pic>
      <p:sp>
        <p:nvSpPr>
          <p:cNvPr id="7" name="Rounded Rectangle 6"/>
          <p:cNvSpPr/>
          <p:nvPr/>
        </p:nvSpPr>
        <p:spPr>
          <a:xfrm>
            <a:off x="6309360" y="1325880"/>
            <a:ext cx="5212080" cy="4892040"/>
          </a:xfrm>
          <a:prstGeom prst="roundRect">
            <a:avLst/>
          </a:prstGeom>
          <a:solidFill>
            <a:srgbClr val="FFFFFF"/>
          </a:solidFill>
          <a:ln>
            <a:solidFill>
              <a:srgbClr val="EEDE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554480"/>
            <a:ext cx="4754880" cy="4526280"/>
          </a:xfrm>
          <a:prstGeom prst="rect">
            <a:avLst/>
          </a:prstGeom>
          <a:noFill/>
        </p:spPr>
        <p:txBody>
          <a:bodyPr wrap="square" lIns="54864" rIns="54864" tIns="54864" bIns="54864">
            <a:spAutoFit/>
          </a:bodyPr>
          <a:lstStyle/>
          <a:p>
            <a:pPr>
              <a:spcAft>
                <a:spcPts val="500"/>
              </a:spcAft>
              <a:defRPr sz="1200" b="0">
                <a:solidFill>
                  <a:srgbClr val="292321"/>
                </a:solidFill>
                <a:latin typeface="Aptos"/>
              </a:defRPr>
            </a:pPr>
            <a:r>
              <a:t>Design a professional outdoor billboard advertisement for the fictional chocolate brand “90s Chocolate”. Use a bold, nostalgic 1990s-inspired design with chocolate brown, cream, golden yellow, and white.</a:t>
            </a:r>
          </a:p>
          <a:p>
            <a:pPr>
              <a:spcAft>
                <a:spcPts val="500"/>
              </a:spcAft>
              <a:defRPr sz="1200" b="0">
                <a:solidFill>
                  <a:srgbClr val="292321"/>
                </a:solidFill>
                <a:latin typeface="Aptos"/>
              </a:defRPr>
            </a:pPr>
          </a:p>
          <a:p>
            <a:pPr>
              <a:spcAft>
                <a:spcPts val="500"/>
              </a:spcAft>
              <a:defRPr sz="1200" b="0">
                <a:solidFill>
                  <a:srgbClr val="292321"/>
                </a:solidFill>
                <a:latin typeface="Aptos"/>
              </a:defRPr>
            </a:pPr>
            <a:r>
              <a:t>Display the headline “RELIVE THE 90s WITH EVERY BITE!” in large, bold, readable retro typography. Feature an appetising chocolate bar with rich chocolate pieces. Place the exact “90s Chocolate” brand name and logo prominently on the billboard. Include the tagline “Taste the Good Old Days!”</a:t>
            </a:r>
          </a:p>
          <a:p>
            <a:pPr>
              <a:spcAft>
                <a:spcPts val="500"/>
              </a:spcAft>
              <a:defRPr sz="1200" b="0">
                <a:solidFill>
                  <a:srgbClr val="292321"/>
                </a:solidFill>
                <a:latin typeface="Aptos"/>
              </a:defRPr>
            </a:pPr>
          </a:p>
          <a:p>
            <a:pPr>
              <a:spcAft>
                <a:spcPts val="500"/>
              </a:spcAft>
              <a:defRPr sz="1200" b="0">
                <a:solidFill>
                  <a:srgbClr val="292321"/>
                </a:solidFill>
                <a:latin typeface="Aptos"/>
              </a:defRPr>
            </a:pPr>
            <a:r>
              <a:t>Use high contrast, minimal text, a clean visual hierarchy, and an eye-catching composition that can be read from a distance. Present the design on a realistic large roadside billboard in a modern city during daylight. Keep the logo, colours, typography, and brand identity consistent with the chocolate packaging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